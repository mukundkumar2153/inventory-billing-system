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7" r:id="rId10"/>
    <p:sldId id="268" r:id="rId11"/>
    <p:sldId id="270" r:id="rId12"/>
    <p:sldId id="271" r:id="rId13"/>
  </p:sldIdLst>
  <p:sldSz cx="12192000" cy="6858000"/>
  <p:notesSz cx="6858000" cy="12192000"/>
  <p:embeddedFontLst>
    <p:embeddedFont>
      <p:font typeface="Caladea Bold" panose="020B0604020202020204" charset="0"/>
      <p:regular r:id="rId15"/>
    </p:embeddedFont>
    <p:embeddedFont>
      <p:font typeface="Carlito" panose="020B0604020202020204" charset="0"/>
      <p:regular r:id="rId16"/>
    </p:embeddedFont>
    <p:embeddedFont>
      <p:font typeface="Carlito 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943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decision point: insufficient stock loops back to product selection; available stock continues through payment, invoicing, inventory update,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853380"/>
            <a:ext cx="1219170" cy="12192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15" y="1158180"/>
            <a:ext cx="609585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422" y="2316460"/>
            <a:ext cx="9753356" cy="9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00" b="1" kern="100" spc="7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SmartStore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731422" y="3413720"/>
            <a:ext cx="9753356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7DD3D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 &amp; Inventory Management System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422" y="4253210"/>
            <a:ext cx="8534187" cy="778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5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Retail billing and inventory management for faster checkout and accurate stock tracking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31422" y="5899150"/>
            <a:ext cx="10362941" cy="3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Presented by: Mukund Kumar, Ayan Shaikh, Aaron Famy</a:t>
            </a:r>
            <a:endParaRPr lang="en-US" sz="18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B3B92C-F7EF-C585-DE5B-CFF8A685235E}"/>
              </a:ext>
            </a:extLst>
          </p:cNvPr>
          <p:cNvSpPr/>
          <p:nvPr/>
        </p:nvSpPr>
        <p:spPr>
          <a:xfrm>
            <a:off x="10599576" y="6382139"/>
            <a:ext cx="1592424" cy="475861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7320"/>
            <a:ext cx="10972526" cy="650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50" b="1" kern="100" spc="47" dirty="0">
                <a:solidFill>
                  <a:srgbClr val="0B1F3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Overview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09585" y="1327051"/>
            <a:ext cx="10915377" cy="778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lightweight billing + inventory system for small stores, grocery shops and supermarkets (GST included).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09585" y="2438202"/>
            <a:ext cx="3474554" cy="3413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7077" y="2755702"/>
            <a:ext cx="914377" cy="9144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671" y="2984302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7077" y="3899892"/>
            <a:ext cx="292598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Fast Digital Checkout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27077" y="4509393"/>
            <a:ext cx="2868838" cy="68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Replace paper billing — search / barcode based.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4328012" y="2438202"/>
            <a:ext cx="3474554" cy="3413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504" y="2755702"/>
            <a:ext cx="914377" cy="9144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098" y="2984302"/>
            <a:ext cx="457189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5504" y="3899892"/>
            <a:ext cx="292598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Real-time Stock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4645504" y="4509393"/>
            <a:ext cx="2868838" cy="68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Catch low-stock and out-of-stock issues on time.</a:t>
            </a:r>
            <a:endParaRPr lang="en-US" sz="1850" dirty="0"/>
          </a:p>
        </p:txBody>
      </p:sp>
      <p:sp>
        <p:nvSpPr>
          <p:cNvPr id="14" name="Shape 10"/>
          <p:cNvSpPr/>
          <p:nvPr/>
        </p:nvSpPr>
        <p:spPr>
          <a:xfrm>
            <a:off x="8046439" y="2438202"/>
            <a:ext cx="3474554" cy="34137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3931" y="2755702"/>
            <a:ext cx="914377" cy="9144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2526" y="2984302"/>
            <a:ext cx="457189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3931" y="3899892"/>
            <a:ext cx="292598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Auto GST &amp; Invoice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363931" y="4509393"/>
            <a:ext cx="2868838" cy="68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Calculation errors zero, invoice print ready.</a:t>
            </a:r>
            <a:endParaRPr lang="en-US" sz="18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95776D8-09E4-1570-E762-3D7746917034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84206E7-31B8-A198-FE9D-8BD42F65893B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itle"/>
          <p:cNvSpPr txBox="1"/>
          <p:nvPr/>
        </p:nvSpPr>
        <p:spPr>
          <a:xfrm>
            <a:off x="612648" y="466344"/>
            <a:ext cx="1097280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50" b="1" i="0" spc="47">
                <a:solidFill>
                  <a:srgbClr val="0B1F3A"/>
                </a:solidFill>
                <a:latin typeface="Caladea Bold"/>
                <a:ea typeface="Caladea Bold"/>
                <a:cs typeface="Caladea Bold"/>
              </a:rPr>
              <a:t>Problem Statement</a:t>
            </a:r>
          </a:p>
        </p:txBody>
      </p:sp>
      <p:sp>
        <p:nvSpPr>
          <p:cNvPr id="16" name="Subtitle"/>
          <p:cNvSpPr txBox="1"/>
          <p:nvPr/>
        </p:nvSpPr>
        <p:spPr>
          <a:xfrm>
            <a:off x="612648" y="1280160"/>
            <a:ext cx="1091793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Retail operations need one reliable system for products, stock, billing, and visibility.</a:t>
            </a:r>
          </a:p>
        </p:txBody>
      </p:sp>
      <p:sp>
        <p:nvSpPr>
          <p:cNvPr id="17" name="Card"/>
          <p:cNvSpPr/>
          <p:nvPr/>
        </p:nvSpPr>
        <p:spPr>
          <a:xfrm>
            <a:off x="612648" y="1965960"/>
            <a:ext cx="5367528" cy="1965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Icon circle"/>
          <p:cNvSpPr/>
          <p:nvPr/>
        </p:nvSpPr>
        <p:spPr>
          <a:xfrm>
            <a:off x="914400" y="2491739"/>
            <a:ext cx="914400" cy="91440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Icon" descr="Cop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20339"/>
            <a:ext cx="457200" cy="457200"/>
          </a:xfrm>
          <a:prstGeom prst="rect">
            <a:avLst/>
          </a:prstGeom>
        </p:spPr>
      </p:pic>
      <p:sp>
        <p:nvSpPr>
          <p:cNvPr id="20" name="Card title"/>
          <p:cNvSpPr txBox="1"/>
          <p:nvPr/>
        </p:nvSpPr>
        <p:spPr>
          <a:xfrm>
            <a:off x="2121408" y="224027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Fragmented records</a:t>
            </a:r>
          </a:p>
        </p:txBody>
      </p:sp>
      <p:sp>
        <p:nvSpPr>
          <p:cNvPr id="21" name="Card text"/>
          <p:cNvSpPr txBox="1"/>
          <p:nvPr/>
        </p:nvSpPr>
        <p:spPr>
          <a:xfrm>
            <a:off x="2121408" y="2715768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Product and inventory data can be spread across manual files or disconnected tools, making updates inconsistent.</a:t>
            </a:r>
          </a:p>
        </p:txBody>
      </p:sp>
      <p:sp>
        <p:nvSpPr>
          <p:cNvPr id="22" name="Card"/>
          <p:cNvSpPr/>
          <p:nvPr/>
        </p:nvSpPr>
        <p:spPr>
          <a:xfrm>
            <a:off x="6217920" y="1965960"/>
            <a:ext cx="5367528" cy="1965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con circle"/>
          <p:cNvSpPr/>
          <p:nvPr/>
        </p:nvSpPr>
        <p:spPr>
          <a:xfrm>
            <a:off x="6519672" y="2491739"/>
            <a:ext cx="914400" cy="91440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Icon" descr="BoxOpe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2720339"/>
            <a:ext cx="457200" cy="457200"/>
          </a:xfrm>
          <a:prstGeom prst="rect">
            <a:avLst/>
          </a:prstGeom>
        </p:spPr>
      </p:pic>
      <p:sp>
        <p:nvSpPr>
          <p:cNvPr id="25" name="Card title"/>
          <p:cNvSpPr txBox="1"/>
          <p:nvPr/>
        </p:nvSpPr>
        <p:spPr>
          <a:xfrm>
            <a:off x="7726679" y="224027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Stock uncertainty</a:t>
            </a:r>
          </a:p>
        </p:txBody>
      </p:sp>
      <p:sp>
        <p:nvSpPr>
          <p:cNvPr id="26" name="Card text"/>
          <p:cNvSpPr txBox="1"/>
          <p:nvPr/>
        </p:nvSpPr>
        <p:spPr>
          <a:xfrm>
            <a:off x="7726679" y="2715768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Without timely stock updates, teams risk stockouts, overstock, and slow replenishment decisions.</a:t>
            </a:r>
          </a:p>
        </p:txBody>
      </p:sp>
      <p:sp>
        <p:nvSpPr>
          <p:cNvPr id="27" name="Card"/>
          <p:cNvSpPr/>
          <p:nvPr/>
        </p:nvSpPr>
        <p:spPr>
          <a:xfrm>
            <a:off x="612648" y="4114800"/>
            <a:ext cx="5367528" cy="1965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Icon circle"/>
          <p:cNvSpPr/>
          <p:nvPr/>
        </p:nvSpPr>
        <p:spPr>
          <a:xfrm>
            <a:off x="914400" y="4640580"/>
            <a:ext cx="914400" cy="91440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Icon" descr="HourglassHalf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4869180"/>
            <a:ext cx="457200" cy="457200"/>
          </a:xfrm>
          <a:prstGeom prst="rect">
            <a:avLst/>
          </a:prstGeom>
        </p:spPr>
      </p:pic>
      <p:sp>
        <p:nvSpPr>
          <p:cNvPr id="30" name="Card title"/>
          <p:cNvSpPr txBox="1"/>
          <p:nvPr/>
        </p:nvSpPr>
        <p:spPr>
          <a:xfrm>
            <a:off x="2121408" y="4389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Slow checkout</a:t>
            </a:r>
          </a:p>
        </p:txBody>
      </p:sp>
      <p:sp>
        <p:nvSpPr>
          <p:cNvPr id="31" name="Card text"/>
          <p:cNvSpPr txBox="1"/>
          <p:nvPr/>
        </p:nvSpPr>
        <p:spPr>
          <a:xfrm>
            <a:off x="2121408" y="4864608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Manual billing and quantity calculations increase effort at the point of sale and create room for errors.</a:t>
            </a:r>
          </a:p>
        </p:txBody>
      </p:sp>
      <p:sp>
        <p:nvSpPr>
          <p:cNvPr id="32" name="Card"/>
          <p:cNvSpPr/>
          <p:nvPr/>
        </p:nvSpPr>
        <p:spPr>
          <a:xfrm>
            <a:off x="6217920" y="4114800"/>
            <a:ext cx="5367528" cy="1965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Icon circle"/>
          <p:cNvSpPr/>
          <p:nvPr/>
        </p:nvSpPr>
        <p:spPr>
          <a:xfrm>
            <a:off x="6519672" y="4640580"/>
            <a:ext cx="914400" cy="91440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Icon" descr="EyeSlash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4869180"/>
            <a:ext cx="457200" cy="457200"/>
          </a:xfrm>
          <a:prstGeom prst="rect">
            <a:avLst/>
          </a:prstGeom>
        </p:spPr>
      </p:pic>
      <p:sp>
        <p:nvSpPr>
          <p:cNvPr id="35" name="Card title"/>
          <p:cNvSpPr txBox="1"/>
          <p:nvPr/>
        </p:nvSpPr>
        <p:spPr>
          <a:xfrm>
            <a:off x="7726679" y="4389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Limited visibility</a:t>
            </a:r>
          </a:p>
        </p:txBody>
      </p:sp>
      <p:sp>
        <p:nvSpPr>
          <p:cNvPr id="36" name="Card text"/>
          <p:cNvSpPr txBox="1"/>
          <p:nvPr/>
        </p:nvSpPr>
        <p:spPr>
          <a:xfrm>
            <a:off x="7726679" y="4864608"/>
            <a:ext cx="3657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Managers need clear dashboards and reports to understand sales activity, inventory movement, and operational 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E097698-D6E6-F3CB-59B6-C0042C598CD5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itle"/>
          <p:cNvSpPr txBox="1"/>
          <p:nvPr/>
        </p:nvSpPr>
        <p:spPr>
          <a:xfrm>
            <a:off x="612648" y="466344"/>
            <a:ext cx="1097280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50" b="1" i="0" spc="47">
                <a:solidFill>
                  <a:srgbClr val="0B1F3A"/>
                </a:solidFill>
                <a:latin typeface="Caladea Bold"/>
                <a:ea typeface="Caladea Bold"/>
                <a:cs typeface="Caladea Bold"/>
              </a:rPr>
              <a:t>Advantages</a:t>
            </a:r>
          </a:p>
        </p:txBody>
      </p:sp>
      <p:sp>
        <p:nvSpPr>
          <p:cNvPr id="19" name="Card"/>
          <p:cNvSpPr/>
          <p:nvPr/>
        </p:nvSpPr>
        <p:spPr>
          <a:xfrm>
            <a:off x="612648" y="1417320"/>
            <a:ext cx="3474720" cy="2240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Icon circle"/>
          <p:cNvSpPr/>
          <p:nvPr/>
        </p:nvSpPr>
        <p:spPr>
          <a:xfrm>
            <a:off x="886968" y="1691640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Icon" descr="Sliders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" y="1885950"/>
            <a:ext cx="388620" cy="388620"/>
          </a:xfrm>
          <a:prstGeom prst="rect">
            <a:avLst/>
          </a:prstGeom>
        </p:spPr>
      </p:pic>
      <p:sp>
        <p:nvSpPr>
          <p:cNvPr id="22" name="Card title"/>
          <p:cNvSpPr txBox="1"/>
          <p:nvPr/>
        </p:nvSpPr>
        <p:spPr>
          <a:xfrm>
            <a:off x="1847088" y="169164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Centralized control</a:t>
            </a:r>
          </a:p>
        </p:txBody>
      </p:sp>
      <p:sp>
        <p:nvSpPr>
          <p:cNvPr id="23" name="Card text"/>
          <p:cNvSpPr txBox="1"/>
          <p:nvPr/>
        </p:nvSpPr>
        <p:spPr>
          <a:xfrm>
            <a:off x="886968" y="2679191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Manage products, quantities, billing, and inventory from one connected system.</a:t>
            </a:r>
          </a:p>
        </p:txBody>
      </p:sp>
      <p:sp>
        <p:nvSpPr>
          <p:cNvPr id="24" name="Card"/>
          <p:cNvSpPr/>
          <p:nvPr/>
        </p:nvSpPr>
        <p:spPr>
          <a:xfrm>
            <a:off x="4325112" y="1417320"/>
            <a:ext cx="3474720" cy="2240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con circle"/>
          <p:cNvSpPr/>
          <p:nvPr/>
        </p:nvSpPr>
        <p:spPr>
          <a:xfrm>
            <a:off x="4599432" y="1691640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Icon" descr="Bolt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3742" y="1885950"/>
            <a:ext cx="388620" cy="388620"/>
          </a:xfrm>
          <a:prstGeom prst="rect">
            <a:avLst/>
          </a:prstGeom>
        </p:spPr>
      </p:pic>
      <p:sp>
        <p:nvSpPr>
          <p:cNvPr id="27" name="Card title"/>
          <p:cNvSpPr txBox="1"/>
          <p:nvPr/>
        </p:nvSpPr>
        <p:spPr>
          <a:xfrm>
            <a:off x="5559552" y="169164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Faster checkout</a:t>
            </a:r>
          </a:p>
        </p:txBody>
      </p:sp>
      <p:sp>
        <p:nvSpPr>
          <p:cNvPr id="28" name="Card text"/>
          <p:cNvSpPr txBox="1"/>
          <p:nvPr/>
        </p:nvSpPr>
        <p:spPr>
          <a:xfrm>
            <a:off x="4599432" y="2679191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Streamlined product selection and billing calculation reduce friction at the counter.</a:t>
            </a:r>
          </a:p>
        </p:txBody>
      </p:sp>
      <p:sp>
        <p:nvSpPr>
          <p:cNvPr id="29" name="Card"/>
          <p:cNvSpPr/>
          <p:nvPr/>
        </p:nvSpPr>
        <p:spPr>
          <a:xfrm>
            <a:off x="8046720" y="1417320"/>
            <a:ext cx="3474720" cy="2240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con circle"/>
          <p:cNvSpPr/>
          <p:nvPr/>
        </p:nvSpPr>
        <p:spPr>
          <a:xfrm>
            <a:off x="8321040" y="1691640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Icon" descr="ClipboardCheck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5350" y="1885950"/>
            <a:ext cx="388620" cy="388620"/>
          </a:xfrm>
          <a:prstGeom prst="rect">
            <a:avLst/>
          </a:prstGeom>
        </p:spPr>
      </p:pic>
      <p:sp>
        <p:nvSpPr>
          <p:cNvPr id="32" name="Card title"/>
          <p:cNvSpPr txBox="1"/>
          <p:nvPr/>
        </p:nvSpPr>
        <p:spPr>
          <a:xfrm>
            <a:off x="9281160" y="169164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Accurate stock</a:t>
            </a:r>
          </a:p>
        </p:txBody>
      </p:sp>
      <p:sp>
        <p:nvSpPr>
          <p:cNvPr id="33" name="Card text"/>
          <p:cNvSpPr txBox="1"/>
          <p:nvPr/>
        </p:nvSpPr>
        <p:spPr>
          <a:xfrm>
            <a:off x="8321040" y="2679191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Completed transactions update stock records consistently, improving reliability.</a:t>
            </a:r>
          </a:p>
        </p:txBody>
      </p:sp>
      <p:sp>
        <p:nvSpPr>
          <p:cNvPr id="34" name="Card"/>
          <p:cNvSpPr/>
          <p:nvPr/>
        </p:nvSpPr>
        <p:spPr>
          <a:xfrm>
            <a:off x="612648" y="3840480"/>
            <a:ext cx="3474720" cy="2240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con circle"/>
          <p:cNvSpPr/>
          <p:nvPr/>
        </p:nvSpPr>
        <p:spPr>
          <a:xfrm>
            <a:off x="886968" y="4114800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Icon" descr="ShieldAl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1278" y="4309110"/>
            <a:ext cx="388620" cy="388620"/>
          </a:xfrm>
          <a:prstGeom prst="rect">
            <a:avLst/>
          </a:prstGeom>
        </p:spPr>
      </p:pic>
      <p:sp>
        <p:nvSpPr>
          <p:cNvPr id="37" name="Card title"/>
          <p:cNvSpPr txBox="1"/>
          <p:nvPr/>
        </p:nvSpPr>
        <p:spPr>
          <a:xfrm>
            <a:off x="1847088" y="411480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Secure transactions</a:t>
            </a:r>
          </a:p>
        </p:txBody>
      </p:sp>
      <p:sp>
        <p:nvSpPr>
          <p:cNvPr id="38" name="Card text"/>
          <p:cNvSpPr txBox="1"/>
          <p:nvPr/>
        </p:nvSpPr>
        <p:spPr>
          <a:xfrm>
            <a:off x="886968" y="5102352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ACID-aligned transaction handling helps preserve consistency and integrity.</a:t>
            </a:r>
          </a:p>
        </p:txBody>
      </p:sp>
      <p:sp>
        <p:nvSpPr>
          <p:cNvPr id="39" name="Card"/>
          <p:cNvSpPr/>
          <p:nvPr/>
        </p:nvSpPr>
        <p:spPr>
          <a:xfrm>
            <a:off x="4325112" y="3840480"/>
            <a:ext cx="3474720" cy="2240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Icon circle"/>
          <p:cNvSpPr/>
          <p:nvPr/>
        </p:nvSpPr>
        <p:spPr>
          <a:xfrm>
            <a:off x="4599432" y="4114800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Icon" descr="ChartLin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3742" y="4309110"/>
            <a:ext cx="388620" cy="388620"/>
          </a:xfrm>
          <a:prstGeom prst="rect">
            <a:avLst/>
          </a:prstGeom>
        </p:spPr>
      </p:pic>
      <p:sp>
        <p:nvSpPr>
          <p:cNvPr id="42" name="Card title"/>
          <p:cNvSpPr txBox="1"/>
          <p:nvPr/>
        </p:nvSpPr>
        <p:spPr>
          <a:xfrm>
            <a:off x="5559552" y="411480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Actionable insight</a:t>
            </a:r>
          </a:p>
        </p:txBody>
      </p:sp>
      <p:sp>
        <p:nvSpPr>
          <p:cNvPr id="43" name="Card text"/>
          <p:cNvSpPr txBox="1"/>
          <p:nvPr/>
        </p:nvSpPr>
        <p:spPr>
          <a:xfrm>
            <a:off x="4599432" y="5102352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Dashboards and reports give managers a clearer view of sales and inventory trends.</a:t>
            </a:r>
          </a:p>
        </p:txBody>
      </p:sp>
      <p:sp>
        <p:nvSpPr>
          <p:cNvPr id="44" name="Card"/>
          <p:cNvSpPr/>
          <p:nvPr/>
        </p:nvSpPr>
        <p:spPr>
          <a:xfrm>
            <a:off x="8046720" y="3840480"/>
            <a:ext cx="3474720" cy="22402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Icon circle"/>
          <p:cNvSpPr/>
          <p:nvPr/>
        </p:nvSpPr>
        <p:spPr>
          <a:xfrm>
            <a:off x="8321040" y="4114800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Icon" descr="Rocket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350" y="4309110"/>
            <a:ext cx="388620" cy="388620"/>
          </a:xfrm>
          <a:prstGeom prst="rect">
            <a:avLst/>
          </a:prstGeom>
        </p:spPr>
      </p:pic>
      <p:sp>
        <p:nvSpPr>
          <p:cNvPr id="47" name="Card title"/>
          <p:cNvSpPr txBox="1"/>
          <p:nvPr/>
        </p:nvSpPr>
        <p:spPr>
          <a:xfrm>
            <a:off x="9281160" y="4114800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Ready to grow</a:t>
            </a:r>
          </a:p>
        </p:txBody>
      </p:sp>
      <p:sp>
        <p:nvSpPr>
          <p:cNvPr id="48" name="Card text"/>
          <p:cNvSpPr txBox="1"/>
          <p:nvPr/>
        </p:nvSpPr>
        <p:spPr>
          <a:xfrm>
            <a:off x="8321040" y="5102352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A modular foundation can expand as store processes and product volumes increase.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7320"/>
            <a:ext cx="10972526" cy="650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50" b="1" kern="100" spc="47" dirty="0">
                <a:solidFill>
                  <a:srgbClr val="0B1F3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Key Modules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609585" y="1462980"/>
            <a:ext cx="5364326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377" y="1889720"/>
            <a:ext cx="914377" cy="9144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71" y="2118320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72529" y="1814810"/>
            <a:ext cx="365750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Analytics Dashboard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2072529" y="2424410"/>
            <a:ext cx="3600360" cy="632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Revenue KPI, total bills, 7-day chart, low-stock alerts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17685" y="1462980"/>
            <a:ext cx="5364326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22477" y="1889720"/>
            <a:ext cx="914377" cy="9144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072" y="2118320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728" y="1814810"/>
            <a:ext cx="365750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POS Billing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680728" y="2424410"/>
            <a:ext cx="4267093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Search, dynamic cart, CASH / CARD / UPI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09585" y="3840460"/>
            <a:ext cx="5364326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377" y="4267200"/>
            <a:ext cx="914377" cy="9144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71" y="4495800"/>
            <a:ext cx="457189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72529" y="4192191"/>
            <a:ext cx="365750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Product Management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2072529" y="4801791"/>
            <a:ext cx="4267093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CRUD, categories, units, soft-delete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6217685" y="3840460"/>
            <a:ext cx="5364326" cy="21336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22477" y="4267200"/>
            <a:ext cx="914377" cy="9144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1072" y="4495800"/>
            <a:ext cx="457189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728" y="4192191"/>
            <a:ext cx="3657509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GST &amp; Invoicing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7680728" y="4801791"/>
            <a:ext cx="4267093" cy="316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0/5/12/18% GST, printable invoice</a:t>
            </a:r>
            <a:endParaRPr lang="en-US" sz="1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5E778F-1619-7ED5-D26B-F878F751A16F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7320"/>
            <a:ext cx="10972526" cy="650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50" b="1" kern="100" spc="47" dirty="0">
                <a:solidFill>
                  <a:srgbClr val="0B1F3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Platform &amp; Data Foundations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609585" y="1401961"/>
            <a:ext cx="10972526" cy="755848"/>
          </a:xfrm>
          <a:prstGeom prst="roundRect">
            <a:avLst>
              <a:gd name="adj" fmla="val 1935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5140" y="1487785"/>
            <a:ext cx="609585" cy="6096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36" y="1640185"/>
            <a:ext cx="304792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19517" y="1571327"/>
            <a:ext cx="2682113" cy="389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5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Backend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4401730" y="1571327"/>
            <a:ext cx="694920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Request handling and business logic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09585" y="2316262"/>
            <a:ext cx="10972526" cy="755948"/>
          </a:xfrm>
          <a:prstGeom prst="roundRect">
            <a:avLst>
              <a:gd name="adj" fmla="val 19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5140" y="2402086"/>
            <a:ext cx="609585" cy="6096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536" y="2554486"/>
            <a:ext cx="304792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19517" y="2485628"/>
            <a:ext cx="2682113" cy="389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5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Database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4401631" y="2485628"/>
            <a:ext cx="694920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MySQL 8.0 (InnoDB, utf8mb4)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09585" y="3230662"/>
            <a:ext cx="10972526" cy="755948"/>
          </a:xfrm>
          <a:prstGeom prst="roundRect">
            <a:avLst>
              <a:gd name="adj" fmla="val 1935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5140" y="3316486"/>
            <a:ext cx="609585" cy="6096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36" y="3468886"/>
            <a:ext cx="304792" cy="304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19517" y="3400028"/>
            <a:ext cx="2682113" cy="389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5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Connectivity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4401631" y="3400028"/>
            <a:ext cx="694920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 connection layer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609585" y="4145062"/>
            <a:ext cx="10972526" cy="755948"/>
          </a:xfrm>
          <a:prstGeom prst="roundRect">
            <a:avLst>
              <a:gd name="adj" fmla="val 1935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5140" y="4230886"/>
            <a:ext cx="609585" cy="6096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536" y="4383286"/>
            <a:ext cx="304792" cy="304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19517" y="4314428"/>
            <a:ext cx="2682113" cy="389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5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Frontend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4401631" y="4314428"/>
            <a:ext cx="694920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HTML5 + responsive CSS3 (glass / card UI)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609585" y="5059462"/>
            <a:ext cx="10972526" cy="755948"/>
          </a:xfrm>
          <a:prstGeom prst="roundRect">
            <a:avLst>
              <a:gd name="adj" fmla="val 19353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5140" y="5145286"/>
            <a:ext cx="609585" cy="6096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36" y="5297686"/>
            <a:ext cx="304792" cy="304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19517" y="5228828"/>
            <a:ext cx="2682113" cy="389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5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Automation</a:t>
            </a:r>
            <a:endParaRPr lang="en-US" sz="2150" dirty="0"/>
          </a:p>
        </p:txBody>
      </p:sp>
      <p:sp>
        <p:nvSpPr>
          <p:cNvPr id="27" name="Text 20"/>
          <p:cNvSpPr/>
          <p:nvPr/>
        </p:nvSpPr>
        <p:spPr>
          <a:xfrm>
            <a:off x="4401730" y="5228828"/>
            <a:ext cx="6949207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Launch workflow — one-click run</a:t>
            </a:r>
            <a:endParaRPr lang="en-US" sz="2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9893F6-CE18-9D87-6DEF-509FF3A7E6B2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FA137B35-E8EA-D257-D23E-DDC25159AA57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Title"/>
          <p:cNvSpPr txBox="1"/>
          <p:nvPr/>
        </p:nvSpPr>
        <p:spPr>
          <a:xfrm>
            <a:off x="612648" y="466344"/>
            <a:ext cx="1097280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50" b="1" i="0" spc="47">
                <a:solidFill>
                  <a:srgbClr val="0B1F3A"/>
                </a:solidFill>
                <a:latin typeface="Caladea Bold"/>
                <a:ea typeface="Caladea Bold"/>
                <a:cs typeface="Caladea Bold"/>
              </a:rPr>
              <a:t>Working Flow / Flowchart</a:t>
            </a:r>
          </a:p>
        </p:txBody>
      </p:sp>
      <p:sp>
        <p:nvSpPr>
          <p:cNvPr id="43" name="Subtitle"/>
          <p:cNvSpPr txBox="1"/>
          <p:nvPr/>
        </p:nvSpPr>
        <p:spPr>
          <a:xfrm>
            <a:off x="612648" y="120700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From POS action to inventory accuracy and management visibility.</a:t>
            </a:r>
          </a:p>
        </p:txBody>
      </p:sp>
      <p:cxnSp>
        <p:nvCxnSpPr>
          <p:cNvPr id="44" name="Arrow"/>
          <p:cNvCxnSpPr/>
          <p:nvPr/>
        </p:nvCxnSpPr>
        <p:spPr>
          <a:xfrm>
            <a:off x="2441448" y="3657600"/>
            <a:ext cx="457200" cy="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45" name="Arrow"/>
          <p:cNvCxnSpPr/>
          <p:nvPr/>
        </p:nvCxnSpPr>
        <p:spPr>
          <a:xfrm>
            <a:off x="4727448" y="3657600"/>
            <a:ext cx="457200" cy="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46" name="Arrow"/>
          <p:cNvCxnSpPr/>
          <p:nvPr/>
        </p:nvCxnSpPr>
        <p:spPr>
          <a:xfrm>
            <a:off x="7013448" y="3657600"/>
            <a:ext cx="365760" cy="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47" name="Arrow"/>
          <p:cNvCxnSpPr/>
          <p:nvPr/>
        </p:nvCxnSpPr>
        <p:spPr>
          <a:xfrm>
            <a:off x="9390888" y="3657600"/>
            <a:ext cx="365760" cy="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48" name="Arrow"/>
          <p:cNvCxnSpPr/>
          <p:nvPr/>
        </p:nvCxnSpPr>
        <p:spPr>
          <a:xfrm>
            <a:off x="10671048" y="4160520"/>
            <a:ext cx="0" cy="68580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49" name="Arrow"/>
          <p:cNvCxnSpPr/>
          <p:nvPr/>
        </p:nvCxnSpPr>
        <p:spPr>
          <a:xfrm flipH="1">
            <a:off x="9299448" y="5349240"/>
            <a:ext cx="457200" cy="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50" name="Arrow"/>
          <p:cNvCxnSpPr/>
          <p:nvPr/>
        </p:nvCxnSpPr>
        <p:spPr>
          <a:xfrm flipH="1">
            <a:off x="7013448" y="5349240"/>
            <a:ext cx="457200" cy="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51" name="Arrow"/>
          <p:cNvCxnSpPr/>
          <p:nvPr/>
        </p:nvCxnSpPr>
        <p:spPr>
          <a:xfrm flipH="1">
            <a:off x="4727448" y="5349240"/>
            <a:ext cx="457200" cy="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52" name="Arrow"/>
          <p:cNvCxnSpPr/>
          <p:nvPr/>
        </p:nvCxnSpPr>
        <p:spPr>
          <a:xfrm flipH="1">
            <a:off x="2441448" y="5349240"/>
            <a:ext cx="457200" cy="0"/>
          </a:xfrm>
          <a:prstGeom prst="line">
            <a:avLst/>
          </a:prstGeom>
          <a:ln w="28575">
            <a:solidFill>
              <a:srgbClr val="0EA5A4"/>
            </a:solidFill>
            <a:tailEnd type="triangle" w="med" len="med"/>
          </a:ln>
        </p:spPr>
      </p:cxnSp>
      <p:cxnSp>
        <p:nvCxnSpPr>
          <p:cNvPr id="53" name="Arrow"/>
          <p:cNvCxnSpPr/>
          <p:nvPr/>
        </p:nvCxnSpPr>
        <p:spPr>
          <a:xfrm flipV="1">
            <a:off x="8385048" y="2171700"/>
            <a:ext cx="0" cy="800100"/>
          </a:xfrm>
          <a:prstGeom prst="line">
            <a:avLst/>
          </a:prstGeom>
          <a:ln w="28575">
            <a:solidFill>
              <a:srgbClr val="DC2626"/>
            </a:solidFill>
          </a:ln>
        </p:spPr>
      </p:cxnSp>
      <p:cxnSp>
        <p:nvCxnSpPr>
          <p:cNvPr id="54" name="Arrow"/>
          <p:cNvCxnSpPr/>
          <p:nvPr/>
        </p:nvCxnSpPr>
        <p:spPr>
          <a:xfrm flipH="1">
            <a:off x="7242048" y="2171700"/>
            <a:ext cx="1143000" cy="0"/>
          </a:xfrm>
          <a:prstGeom prst="line">
            <a:avLst/>
          </a:prstGeom>
          <a:ln w="28575">
            <a:solidFill>
              <a:srgbClr val="DC2626"/>
            </a:solidFill>
          </a:ln>
        </p:spPr>
      </p:cxnSp>
      <p:cxnSp>
        <p:nvCxnSpPr>
          <p:cNvPr id="55" name="Arrow"/>
          <p:cNvCxnSpPr/>
          <p:nvPr/>
        </p:nvCxnSpPr>
        <p:spPr>
          <a:xfrm flipH="1">
            <a:off x="3813048" y="2171700"/>
            <a:ext cx="1143000" cy="0"/>
          </a:xfrm>
          <a:prstGeom prst="line">
            <a:avLst/>
          </a:prstGeom>
          <a:ln w="28575">
            <a:solidFill>
              <a:srgbClr val="DC2626"/>
            </a:solidFill>
          </a:ln>
        </p:spPr>
      </p:cxnSp>
      <p:cxnSp>
        <p:nvCxnSpPr>
          <p:cNvPr id="56" name="Arrow"/>
          <p:cNvCxnSpPr/>
          <p:nvPr/>
        </p:nvCxnSpPr>
        <p:spPr>
          <a:xfrm>
            <a:off x="3813048" y="2171700"/>
            <a:ext cx="0" cy="982980"/>
          </a:xfrm>
          <a:prstGeom prst="line">
            <a:avLst/>
          </a:prstGeom>
          <a:ln w="28575">
            <a:solidFill>
              <a:srgbClr val="DC2626"/>
            </a:solidFill>
            <a:tailEnd type="triangle" w="med" len="med"/>
          </a:ln>
        </p:spPr>
      </p:cxnSp>
      <p:sp>
        <p:nvSpPr>
          <p:cNvPr id="57" name="Node"/>
          <p:cNvSpPr/>
          <p:nvPr/>
        </p:nvSpPr>
        <p:spPr>
          <a:xfrm>
            <a:off x="612647" y="3154680"/>
            <a:ext cx="1828800" cy="100584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Node text"/>
          <p:cNvSpPr txBox="1"/>
          <p:nvPr/>
        </p:nvSpPr>
        <p:spPr>
          <a:xfrm>
            <a:off x="612647" y="315468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rlito Bold"/>
                <a:ea typeface="Carlito Bold"/>
                <a:cs typeface="Carlito Bold"/>
              </a:rPr>
              <a:t>START</a:t>
            </a:r>
          </a:p>
          <a:p>
            <a:pPr algn="ctr"/>
            <a:r>
              <a:rPr sz="1500" b="0" i="0">
                <a:solidFill>
                  <a:srgbClr val="D1FAF9"/>
                </a:solidFill>
                <a:latin typeface="Carlito"/>
                <a:ea typeface="Carlito"/>
                <a:cs typeface="Carlito"/>
              </a:rPr>
              <a:t>Open POS</a:t>
            </a:r>
          </a:p>
        </p:txBody>
      </p:sp>
      <p:sp>
        <p:nvSpPr>
          <p:cNvPr id="59" name="Node"/>
          <p:cNvSpPr/>
          <p:nvPr/>
        </p:nvSpPr>
        <p:spPr>
          <a:xfrm>
            <a:off x="2898648" y="315468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Node text"/>
          <p:cNvSpPr txBox="1"/>
          <p:nvPr/>
        </p:nvSpPr>
        <p:spPr>
          <a:xfrm>
            <a:off x="2971800" y="3154680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Select / search product</a:t>
            </a:r>
          </a:p>
        </p:txBody>
      </p:sp>
      <p:sp>
        <p:nvSpPr>
          <p:cNvPr id="61" name="Node"/>
          <p:cNvSpPr/>
          <p:nvPr/>
        </p:nvSpPr>
        <p:spPr>
          <a:xfrm>
            <a:off x="5184648" y="315468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Node text"/>
          <p:cNvSpPr txBox="1"/>
          <p:nvPr/>
        </p:nvSpPr>
        <p:spPr>
          <a:xfrm>
            <a:off x="5257800" y="3154680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Enter quantity</a:t>
            </a:r>
          </a:p>
        </p:txBody>
      </p:sp>
      <p:sp>
        <p:nvSpPr>
          <p:cNvPr id="63" name="Decision"/>
          <p:cNvSpPr/>
          <p:nvPr/>
        </p:nvSpPr>
        <p:spPr>
          <a:xfrm>
            <a:off x="7379208" y="2971800"/>
            <a:ext cx="2011680" cy="1371600"/>
          </a:xfrm>
          <a:prstGeom prst="diamond">
            <a:avLst/>
          </a:prstGeom>
          <a:solidFill>
            <a:srgbClr val="F59E0B"/>
          </a:solidFill>
          <a:ln>
            <a:noFill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Decision text"/>
          <p:cNvSpPr txBox="1"/>
          <p:nvPr/>
        </p:nvSpPr>
        <p:spPr>
          <a:xfrm>
            <a:off x="7744968" y="3291840"/>
            <a:ext cx="12801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Stock available?</a:t>
            </a:r>
          </a:p>
        </p:txBody>
      </p:sp>
      <p:sp>
        <p:nvSpPr>
          <p:cNvPr id="65" name="Node"/>
          <p:cNvSpPr/>
          <p:nvPr/>
        </p:nvSpPr>
        <p:spPr>
          <a:xfrm>
            <a:off x="9756648" y="315468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Node text"/>
          <p:cNvSpPr txBox="1"/>
          <p:nvPr/>
        </p:nvSpPr>
        <p:spPr>
          <a:xfrm>
            <a:off x="9829800" y="3154680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Calculate</a:t>
            </a:r>
          </a:p>
          <a:p>
            <a:pPr algn="ctr"/>
            <a:r>
              <a:rPr sz="14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subtotal + GST + total</a:t>
            </a:r>
          </a:p>
        </p:txBody>
      </p:sp>
      <p:sp>
        <p:nvSpPr>
          <p:cNvPr id="67" name="Node"/>
          <p:cNvSpPr/>
          <p:nvPr/>
        </p:nvSpPr>
        <p:spPr>
          <a:xfrm>
            <a:off x="9756648" y="484632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Node text"/>
          <p:cNvSpPr txBox="1"/>
          <p:nvPr/>
        </p:nvSpPr>
        <p:spPr>
          <a:xfrm>
            <a:off x="9829800" y="4846320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Select payment</a:t>
            </a:r>
          </a:p>
          <a:p>
            <a:pPr algn="ctr"/>
            <a:r>
              <a:rPr sz="14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Cash / Card / UPI</a:t>
            </a:r>
          </a:p>
        </p:txBody>
      </p:sp>
      <p:sp>
        <p:nvSpPr>
          <p:cNvPr id="69" name="Node"/>
          <p:cNvSpPr/>
          <p:nvPr/>
        </p:nvSpPr>
        <p:spPr>
          <a:xfrm>
            <a:off x="7470648" y="484632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Node text"/>
          <p:cNvSpPr txBox="1"/>
          <p:nvPr/>
        </p:nvSpPr>
        <p:spPr>
          <a:xfrm>
            <a:off x="7543800" y="4846320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Generate invoice</a:t>
            </a:r>
          </a:p>
          <a:p>
            <a:pPr algn="ctr"/>
            <a:r>
              <a:rPr sz="14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save transaction</a:t>
            </a:r>
          </a:p>
        </p:txBody>
      </p:sp>
      <p:sp>
        <p:nvSpPr>
          <p:cNvPr id="71" name="Node"/>
          <p:cNvSpPr/>
          <p:nvPr/>
        </p:nvSpPr>
        <p:spPr>
          <a:xfrm>
            <a:off x="5184648" y="484632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Node text"/>
          <p:cNvSpPr txBox="1"/>
          <p:nvPr/>
        </p:nvSpPr>
        <p:spPr>
          <a:xfrm>
            <a:off x="5257800" y="4846320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Reduce stock</a:t>
            </a:r>
          </a:p>
          <a:p>
            <a:pPr algn="ctr"/>
            <a:r>
              <a:rPr sz="14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quantity</a:t>
            </a:r>
          </a:p>
        </p:txBody>
      </p:sp>
      <p:sp>
        <p:nvSpPr>
          <p:cNvPr id="73" name="Node"/>
          <p:cNvSpPr/>
          <p:nvPr/>
        </p:nvSpPr>
        <p:spPr>
          <a:xfrm>
            <a:off x="2898648" y="484632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Node text"/>
          <p:cNvSpPr txBox="1"/>
          <p:nvPr/>
        </p:nvSpPr>
        <p:spPr>
          <a:xfrm>
            <a:off x="2971800" y="4846320"/>
            <a:ext cx="1682496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Update dashboard</a:t>
            </a:r>
          </a:p>
          <a:p>
            <a:pPr algn="ctr"/>
            <a:r>
              <a:rPr sz="14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and reports</a:t>
            </a:r>
          </a:p>
        </p:txBody>
      </p:sp>
      <p:sp>
        <p:nvSpPr>
          <p:cNvPr id="75" name="Node"/>
          <p:cNvSpPr/>
          <p:nvPr/>
        </p:nvSpPr>
        <p:spPr>
          <a:xfrm>
            <a:off x="612647" y="4846320"/>
            <a:ext cx="1828800" cy="1005840"/>
          </a:xfrm>
          <a:prstGeom prst="roundRect">
            <a:avLst>
              <a:gd name="adj" fmla="val 50000"/>
            </a:avLst>
          </a:prstGeom>
          <a:solidFill>
            <a:srgbClr val="0EA5A4"/>
          </a:solidFill>
          <a:ln>
            <a:noFill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Node text"/>
          <p:cNvSpPr txBox="1"/>
          <p:nvPr/>
        </p:nvSpPr>
        <p:spPr>
          <a:xfrm>
            <a:off x="612647" y="484632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rlito Bold"/>
                <a:ea typeface="Carlito Bold"/>
                <a:cs typeface="Carlito Bold"/>
              </a:rPr>
              <a:t>END</a:t>
            </a:r>
          </a:p>
        </p:txBody>
      </p:sp>
      <p:sp>
        <p:nvSpPr>
          <p:cNvPr id="77" name="Alert"/>
          <p:cNvSpPr/>
          <p:nvPr/>
        </p:nvSpPr>
        <p:spPr>
          <a:xfrm>
            <a:off x="4956048" y="1783080"/>
            <a:ext cx="2286000" cy="77724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Alert text"/>
          <p:cNvSpPr txBox="1"/>
          <p:nvPr/>
        </p:nvSpPr>
        <p:spPr>
          <a:xfrm>
            <a:off x="5029200" y="1783080"/>
            <a:ext cx="213969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B91C1C"/>
                </a:solidFill>
                <a:latin typeface="Carlito Bold"/>
                <a:ea typeface="Carlito Bold"/>
                <a:cs typeface="Carlito Bold"/>
              </a:rPr>
              <a:t>Insufficient stock</a:t>
            </a:r>
          </a:p>
          <a:p>
            <a:pPr algn="ctr"/>
            <a:r>
              <a:rPr sz="1300" b="0" i="0">
                <a:solidFill>
                  <a:srgbClr val="B91C1C"/>
                </a:solidFill>
                <a:latin typeface="Carlito"/>
                <a:ea typeface="Carlito"/>
                <a:cs typeface="Carlito"/>
              </a:rPr>
              <a:t>show low-stock message</a:t>
            </a:r>
          </a:p>
        </p:txBody>
      </p:sp>
      <p:sp>
        <p:nvSpPr>
          <p:cNvPr id="79" name="YES"/>
          <p:cNvSpPr txBox="1"/>
          <p:nvPr/>
        </p:nvSpPr>
        <p:spPr>
          <a:xfrm>
            <a:off x="9354312" y="3273552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  <a:latin typeface="Carlito Bold"/>
                <a:ea typeface="Carlito Bold"/>
                <a:cs typeface="Carlito Bold"/>
              </a:rPr>
              <a:t>YES</a:t>
            </a:r>
          </a:p>
        </p:txBody>
      </p:sp>
      <p:sp>
        <p:nvSpPr>
          <p:cNvPr id="80" name="NO"/>
          <p:cNvSpPr txBox="1"/>
          <p:nvPr/>
        </p:nvSpPr>
        <p:spPr>
          <a:xfrm>
            <a:off x="8494776" y="237744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rlito Bold"/>
                <a:ea typeface="Carlito Bold"/>
                <a:cs typeface="Carlito Bold"/>
              </a:rPr>
              <a:t>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7320"/>
            <a:ext cx="10972526" cy="650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50" b="1" kern="100" spc="47" dirty="0">
                <a:solidFill>
                  <a:srgbClr val="0B1F3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Database Schema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609585" y="1462980"/>
            <a:ext cx="3474454" cy="377924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92440" y="1645841"/>
            <a:ext cx="3108644" cy="609501"/>
          </a:xfrm>
          <a:prstGeom prst="roundRect">
            <a:avLst>
              <a:gd name="adj" fmla="val 19203"/>
            </a:avLst>
          </a:prstGeom>
          <a:solidFill>
            <a:srgbClr val="0EA5A4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774031"/>
            <a:ext cx="3474653" cy="389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products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975296" y="2485231"/>
            <a:ext cx="2925789" cy="1265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 (PK)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name, category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barcode, price, gst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quantity, unit, active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328012" y="1462980"/>
            <a:ext cx="3474454" cy="377924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10868" y="1645841"/>
            <a:ext cx="3108644" cy="609501"/>
          </a:xfrm>
          <a:prstGeom prst="roundRect">
            <a:avLst>
              <a:gd name="adj" fmla="val 19203"/>
            </a:avLst>
          </a:prstGeom>
          <a:solidFill>
            <a:srgbClr val="0EA5A4"/>
          </a:solidFill>
          <a:ln/>
        </p:spPr>
      </p:sp>
      <p:sp>
        <p:nvSpPr>
          <p:cNvPr id="9" name="Text 7"/>
          <p:cNvSpPr/>
          <p:nvPr/>
        </p:nvSpPr>
        <p:spPr>
          <a:xfrm>
            <a:off x="4328012" y="1774031"/>
            <a:ext cx="3474653" cy="389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bills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4693723" y="2485231"/>
            <a:ext cx="2925789" cy="1265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 (PK)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customer, phone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payment_mode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bill_date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46439" y="1462980"/>
            <a:ext cx="3474454" cy="3779242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295" y="1645841"/>
            <a:ext cx="3108644" cy="609501"/>
          </a:xfrm>
          <a:prstGeom prst="roundRect">
            <a:avLst>
              <a:gd name="adj" fmla="val 19203"/>
            </a:avLst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439" y="1774031"/>
            <a:ext cx="3474653" cy="389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bill_items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412150" y="2485231"/>
            <a:ext cx="2925789" cy="1581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 (PK)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bill_id (FK)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product_id (FK)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quantity, price</a:t>
            </a:r>
            <a:endParaRPr lang="en-US" sz="17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7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gst_percent, gst_amount, total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09585" y="5547320"/>
            <a:ext cx="609585" cy="6096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5699720"/>
            <a:ext cx="304792" cy="304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62944" y="5655270"/>
            <a:ext cx="10362941" cy="3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Bill delete → bill_items cascade (FK). Historical data safe.</a:t>
            </a:r>
            <a:endParaRPr lang="en-US" sz="18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4DAA84-AA5D-70BD-EE3A-D01C648905F2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67320"/>
            <a:ext cx="10972526" cy="650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50" b="1" kern="100" spc="47" dirty="0">
                <a:solidFill>
                  <a:srgbClr val="0B1F3A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UI Highlights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609585" y="1448991"/>
            <a:ext cx="4876678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B1F3A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Smart Stock Badges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09585" y="2133600"/>
            <a:ext cx="1706817" cy="609600"/>
          </a:xfrm>
          <a:prstGeom prst="roundRect">
            <a:avLst>
              <a:gd name="adj" fmla="val 49999"/>
            </a:avLst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304792" y="2302470"/>
            <a:ext cx="2316402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In Stock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99258" y="2133600"/>
            <a:ext cx="1706817" cy="609600"/>
          </a:xfrm>
          <a:prstGeom prst="roundRect">
            <a:avLst>
              <a:gd name="adj" fmla="val 49999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194465" y="2302470"/>
            <a:ext cx="2316402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Low (≤ 5)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8931" y="2133600"/>
            <a:ext cx="1706817" cy="609600"/>
          </a:xfrm>
          <a:prstGeom prst="roundRect">
            <a:avLst>
              <a:gd name="adj" fmla="val 49999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4084138" y="2302470"/>
            <a:ext cx="2316402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Out of Stock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585" y="3352800"/>
            <a:ext cx="670504" cy="6705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61" y="3520380"/>
            <a:ext cx="335252" cy="3352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84881" y="3525738"/>
            <a:ext cx="5486263" cy="3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Instant search by Name, Category, Barcode</a:t>
            </a:r>
            <a:endParaRPr lang="en-US" sz="1850" dirty="0"/>
          </a:p>
        </p:txBody>
      </p:sp>
      <p:sp>
        <p:nvSpPr>
          <p:cNvPr id="13" name="Shape 10"/>
          <p:cNvSpPr/>
          <p:nvPr/>
        </p:nvSpPr>
        <p:spPr>
          <a:xfrm>
            <a:off x="609585" y="4267200"/>
            <a:ext cx="670504" cy="6705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161" y="4434780"/>
            <a:ext cx="335252" cy="3352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84881" y="4440138"/>
            <a:ext cx="5486263" cy="3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Print-ready invoice (@media print)</a:t>
            </a:r>
            <a:endParaRPr lang="en-US" sz="1850" dirty="0"/>
          </a:p>
        </p:txBody>
      </p:sp>
      <p:sp>
        <p:nvSpPr>
          <p:cNvPr id="16" name="Shape 12"/>
          <p:cNvSpPr/>
          <p:nvPr/>
        </p:nvSpPr>
        <p:spPr>
          <a:xfrm>
            <a:off x="609585" y="5181600"/>
            <a:ext cx="670504" cy="67052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161" y="5349180"/>
            <a:ext cx="335252" cy="3352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84881" y="5212259"/>
            <a:ext cx="5486263" cy="3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dirty="0">
                <a:solidFill>
                  <a:srgbClr val="1F293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Responsive checkout and stock views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6579626" y="1500088"/>
            <a:ext cx="5250029" cy="255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6B7280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7-Day Revenue (sample)</a:t>
            </a:r>
            <a:endParaRPr lang="en-US" sz="14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4418" y="1993205"/>
            <a:ext cx="4640444" cy="3944441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853D166-5045-941A-A1B6-8836983C1AE1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C1C85F7-5E22-AD3F-31B6-9117F6F7C986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itle"/>
          <p:cNvSpPr txBox="1"/>
          <p:nvPr/>
        </p:nvSpPr>
        <p:spPr>
          <a:xfrm>
            <a:off x="612648" y="466344"/>
            <a:ext cx="1097280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50" b="1" i="0" spc="47">
                <a:solidFill>
                  <a:srgbClr val="0B1F3A"/>
                </a:solidFill>
                <a:latin typeface="Caladea Bold"/>
                <a:ea typeface="Caladea Bold"/>
                <a:cs typeface="Caladea Bold"/>
              </a:rPr>
              <a:t>Future Scope</a:t>
            </a:r>
          </a:p>
        </p:txBody>
      </p:sp>
      <p:sp>
        <p:nvSpPr>
          <p:cNvPr id="20" name="Card"/>
          <p:cNvSpPr/>
          <p:nvPr/>
        </p:nvSpPr>
        <p:spPr>
          <a:xfrm>
            <a:off x="612648" y="1371600"/>
            <a:ext cx="5367528" cy="1463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con circle"/>
          <p:cNvSpPr/>
          <p:nvPr/>
        </p:nvSpPr>
        <p:spPr>
          <a:xfrm>
            <a:off x="868680" y="1719072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" descr="Bar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913381"/>
            <a:ext cx="388620" cy="388620"/>
          </a:xfrm>
          <a:prstGeom prst="rect">
            <a:avLst/>
          </a:prstGeom>
        </p:spPr>
      </p:pic>
      <p:sp>
        <p:nvSpPr>
          <p:cNvPr id="23" name="Card title"/>
          <p:cNvSpPr txBox="1"/>
          <p:nvPr/>
        </p:nvSpPr>
        <p:spPr>
          <a:xfrm>
            <a:off x="1847088" y="1554480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Barcode &amp; mobile workflows</a:t>
            </a:r>
          </a:p>
        </p:txBody>
      </p:sp>
      <p:sp>
        <p:nvSpPr>
          <p:cNvPr id="24" name="Card text"/>
          <p:cNvSpPr txBox="1"/>
          <p:nvPr/>
        </p:nvSpPr>
        <p:spPr>
          <a:xfrm>
            <a:off x="1847088" y="1956816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Accelerate product lookup, receiving, and checkout with barcode scanning and mobile-friendly tools.</a:t>
            </a:r>
          </a:p>
        </p:txBody>
      </p:sp>
      <p:sp>
        <p:nvSpPr>
          <p:cNvPr id="25" name="Card"/>
          <p:cNvSpPr/>
          <p:nvPr/>
        </p:nvSpPr>
        <p:spPr>
          <a:xfrm>
            <a:off x="6217920" y="1371600"/>
            <a:ext cx="5367528" cy="1463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con circle"/>
          <p:cNvSpPr/>
          <p:nvPr/>
        </p:nvSpPr>
        <p:spPr>
          <a:xfrm>
            <a:off x="6473952" y="1719072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" descr="Truc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1913381"/>
            <a:ext cx="388620" cy="388620"/>
          </a:xfrm>
          <a:prstGeom prst="rect">
            <a:avLst/>
          </a:prstGeom>
        </p:spPr>
      </p:pic>
      <p:sp>
        <p:nvSpPr>
          <p:cNvPr id="28" name="Card title"/>
          <p:cNvSpPr txBox="1"/>
          <p:nvPr/>
        </p:nvSpPr>
        <p:spPr>
          <a:xfrm>
            <a:off x="7452360" y="1554480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Purchasing and suppliers</a:t>
            </a:r>
          </a:p>
        </p:txBody>
      </p:sp>
      <p:sp>
        <p:nvSpPr>
          <p:cNvPr id="29" name="Card text"/>
          <p:cNvSpPr txBox="1"/>
          <p:nvPr/>
        </p:nvSpPr>
        <p:spPr>
          <a:xfrm>
            <a:off x="7452360" y="1956816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Add purchase orders, supplier records, and restocking workflows to the inventory loop.</a:t>
            </a:r>
          </a:p>
        </p:txBody>
      </p:sp>
      <p:sp>
        <p:nvSpPr>
          <p:cNvPr id="30" name="Card"/>
          <p:cNvSpPr/>
          <p:nvPr/>
        </p:nvSpPr>
        <p:spPr>
          <a:xfrm>
            <a:off x="612648" y="2971800"/>
            <a:ext cx="5367528" cy="1463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con circle"/>
          <p:cNvSpPr/>
          <p:nvPr/>
        </p:nvSpPr>
        <p:spPr>
          <a:xfrm>
            <a:off x="868680" y="3319272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" descr="Clou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" y="3513582"/>
            <a:ext cx="388620" cy="388620"/>
          </a:xfrm>
          <a:prstGeom prst="rect">
            <a:avLst/>
          </a:prstGeom>
        </p:spPr>
      </p:pic>
      <p:sp>
        <p:nvSpPr>
          <p:cNvPr id="33" name="Card title"/>
          <p:cNvSpPr txBox="1"/>
          <p:nvPr/>
        </p:nvSpPr>
        <p:spPr>
          <a:xfrm>
            <a:off x="1847088" y="3154680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Multi-store and cloud sync</a:t>
            </a:r>
          </a:p>
        </p:txBody>
      </p:sp>
      <p:sp>
        <p:nvSpPr>
          <p:cNvPr id="34" name="Card text"/>
          <p:cNvSpPr txBox="1"/>
          <p:nvPr/>
        </p:nvSpPr>
        <p:spPr>
          <a:xfrm>
            <a:off x="1847088" y="3557016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Connect locations and keep product, inventory, and transaction data synchronized.</a:t>
            </a:r>
          </a:p>
        </p:txBody>
      </p:sp>
      <p:sp>
        <p:nvSpPr>
          <p:cNvPr id="35" name="Card"/>
          <p:cNvSpPr/>
          <p:nvPr/>
        </p:nvSpPr>
        <p:spPr>
          <a:xfrm>
            <a:off x="6217920" y="2971800"/>
            <a:ext cx="5367528" cy="1463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Icon circle"/>
          <p:cNvSpPr/>
          <p:nvPr/>
        </p:nvSpPr>
        <p:spPr>
          <a:xfrm>
            <a:off x="6473952" y="3319272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con" descr="Plug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262" y="3513582"/>
            <a:ext cx="388620" cy="388620"/>
          </a:xfrm>
          <a:prstGeom prst="rect">
            <a:avLst/>
          </a:prstGeom>
        </p:spPr>
      </p:pic>
      <p:sp>
        <p:nvSpPr>
          <p:cNvPr id="38" name="Card title"/>
          <p:cNvSpPr txBox="1"/>
          <p:nvPr/>
        </p:nvSpPr>
        <p:spPr>
          <a:xfrm>
            <a:off x="7452360" y="3154680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Customer &amp; channel integrations</a:t>
            </a:r>
          </a:p>
        </p:txBody>
      </p:sp>
      <p:sp>
        <p:nvSpPr>
          <p:cNvPr id="39" name="Card text"/>
          <p:cNvSpPr txBox="1"/>
          <p:nvPr/>
        </p:nvSpPr>
        <p:spPr>
          <a:xfrm>
            <a:off x="7452360" y="3557016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Support loyalty, e-commerce, and other connected retail experiences as the system grows.</a:t>
            </a:r>
          </a:p>
        </p:txBody>
      </p:sp>
      <p:sp>
        <p:nvSpPr>
          <p:cNvPr id="40" name="Card"/>
          <p:cNvSpPr/>
          <p:nvPr/>
        </p:nvSpPr>
        <p:spPr>
          <a:xfrm>
            <a:off x="612648" y="4572000"/>
            <a:ext cx="5367528" cy="1463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con circle"/>
          <p:cNvSpPr/>
          <p:nvPr/>
        </p:nvSpPr>
        <p:spPr>
          <a:xfrm>
            <a:off x="868680" y="4919472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Icon" descr="ChartBar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" y="5113782"/>
            <a:ext cx="388620" cy="388620"/>
          </a:xfrm>
          <a:prstGeom prst="rect">
            <a:avLst/>
          </a:prstGeom>
        </p:spPr>
      </p:pic>
      <p:sp>
        <p:nvSpPr>
          <p:cNvPr id="43" name="Card title"/>
          <p:cNvSpPr txBox="1"/>
          <p:nvPr/>
        </p:nvSpPr>
        <p:spPr>
          <a:xfrm>
            <a:off x="1847088" y="4754880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Analytics &amp; forecasting</a:t>
            </a:r>
          </a:p>
        </p:txBody>
      </p:sp>
      <p:sp>
        <p:nvSpPr>
          <p:cNvPr id="44" name="Card text"/>
          <p:cNvSpPr txBox="1"/>
          <p:nvPr/>
        </p:nvSpPr>
        <p:spPr>
          <a:xfrm>
            <a:off x="1847088" y="5157216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Extend dashboards with trend analysis, demand forecasting, and replenishment support.</a:t>
            </a:r>
          </a:p>
        </p:txBody>
      </p:sp>
      <p:sp>
        <p:nvSpPr>
          <p:cNvPr id="45" name="Card"/>
          <p:cNvSpPr/>
          <p:nvPr/>
        </p:nvSpPr>
        <p:spPr>
          <a:xfrm>
            <a:off x="6217920" y="4572000"/>
            <a:ext cx="5367528" cy="14630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Icon circle"/>
          <p:cNvSpPr/>
          <p:nvPr/>
        </p:nvSpPr>
        <p:spPr>
          <a:xfrm>
            <a:off x="6473952" y="4919472"/>
            <a:ext cx="777240" cy="777240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Icon" descr="Server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8262" y="5113782"/>
            <a:ext cx="388620" cy="388620"/>
          </a:xfrm>
          <a:prstGeom prst="rect">
            <a:avLst/>
          </a:prstGeom>
        </p:spPr>
      </p:pic>
      <p:sp>
        <p:nvSpPr>
          <p:cNvPr id="48" name="Card title"/>
          <p:cNvSpPr txBox="1"/>
          <p:nvPr/>
        </p:nvSpPr>
        <p:spPr>
          <a:xfrm>
            <a:off x="7452360" y="4754880"/>
            <a:ext cx="39776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Scalable platform services</a:t>
            </a:r>
          </a:p>
        </p:txBody>
      </p:sp>
      <p:sp>
        <p:nvSpPr>
          <p:cNvPr id="49" name="Card text"/>
          <p:cNvSpPr txBox="1"/>
          <p:nvPr/>
        </p:nvSpPr>
        <p:spPr>
          <a:xfrm>
            <a:off x="7452360" y="5157216"/>
            <a:ext cx="3977639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Continue modularizing the platform for stronger automation, security, and maintainability.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39F0F1D-5923-5665-C174-3DB5817D25A2}"/>
              </a:ext>
            </a:extLst>
          </p:cNvPr>
          <p:cNvSpPr/>
          <p:nvPr/>
        </p:nvSpPr>
        <p:spPr>
          <a:xfrm>
            <a:off x="10898155" y="6503437"/>
            <a:ext cx="1293845" cy="354563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itle"/>
          <p:cNvSpPr txBox="1"/>
          <p:nvPr/>
        </p:nvSpPr>
        <p:spPr>
          <a:xfrm>
            <a:off x="612648" y="466344"/>
            <a:ext cx="10972800" cy="6492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50" b="1" i="0" spc="47">
                <a:solidFill>
                  <a:srgbClr val="0B1F3A"/>
                </a:solidFill>
                <a:latin typeface="Caladea Bold"/>
                <a:ea typeface="Caladea Bold"/>
                <a:cs typeface="Caladea Bold"/>
              </a:rPr>
              <a:t>References</a:t>
            </a:r>
          </a:p>
        </p:txBody>
      </p:sp>
      <p:sp>
        <p:nvSpPr>
          <p:cNvPr id="19" name="Subtitle"/>
          <p:cNvSpPr txBox="1"/>
          <p:nvPr/>
        </p:nvSpPr>
        <p:spPr>
          <a:xfrm>
            <a:off x="612648" y="120700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Retail POS products that informed the SmartStore context and feature direction.</a:t>
            </a:r>
          </a:p>
        </p:txBody>
      </p:sp>
      <p:sp>
        <p:nvSpPr>
          <p:cNvPr id="20" name="Card"/>
          <p:cNvSpPr/>
          <p:nvPr/>
        </p:nvSpPr>
        <p:spPr>
          <a:xfrm>
            <a:off x="612648" y="1783080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Icon circle"/>
          <p:cNvSpPr/>
          <p:nvPr/>
        </p:nvSpPr>
        <p:spPr>
          <a:xfrm>
            <a:off x="804672" y="1842516"/>
            <a:ext cx="612648" cy="612648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Icon" descr="ShoppingBa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" y="1995678"/>
            <a:ext cx="306324" cy="306324"/>
          </a:xfrm>
          <a:prstGeom prst="rect">
            <a:avLst/>
          </a:prstGeom>
        </p:spPr>
      </p:pic>
      <p:sp>
        <p:nvSpPr>
          <p:cNvPr id="23" name="Row title"/>
          <p:cNvSpPr txBox="1"/>
          <p:nvPr/>
        </p:nvSpPr>
        <p:spPr>
          <a:xfrm>
            <a:off x="1719072" y="1783080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Shopify POS</a:t>
            </a:r>
          </a:p>
        </p:txBody>
      </p:sp>
      <p:sp>
        <p:nvSpPr>
          <p:cNvPr id="24" name="Row text"/>
          <p:cNvSpPr txBox="1"/>
          <p:nvPr/>
        </p:nvSpPr>
        <p:spPr>
          <a:xfrm>
            <a:off x="4398264" y="1783080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Connected commerce and point-of-sale reference.</a:t>
            </a:r>
          </a:p>
        </p:txBody>
      </p:sp>
      <p:sp>
        <p:nvSpPr>
          <p:cNvPr id="25" name="Card"/>
          <p:cNvSpPr/>
          <p:nvPr/>
        </p:nvSpPr>
        <p:spPr>
          <a:xfrm>
            <a:off x="612648" y="2633472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con circle"/>
          <p:cNvSpPr/>
          <p:nvPr/>
        </p:nvSpPr>
        <p:spPr>
          <a:xfrm>
            <a:off x="804672" y="2692908"/>
            <a:ext cx="612648" cy="612648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Icon" descr="Stor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34" y="2846070"/>
            <a:ext cx="306324" cy="306324"/>
          </a:xfrm>
          <a:prstGeom prst="rect">
            <a:avLst/>
          </a:prstGeom>
        </p:spPr>
      </p:pic>
      <p:sp>
        <p:nvSpPr>
          <p:cNvPr id="28" name="Row title"/>
          <p:cNvSpPr txBox="1"/>
          <p:nvPr/>
        </p:nvSpPr>
        <p:spPr>
          <a:xfrm>
            <a:off x="1719072" y="2633472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Square for Retail</a:t>
            </a:r>
          </a:p>
        </p:txBody>
      </p:sp>
      <p:sp>
        <p:nvSpPr>
          <p:cNvPr id="29" name="Row text"/>
          <p:cNvSpPr txBox="1"/>
          <p:nvPr/>
        </p:nvSpPr>
        <p:spPr>
          <a:xfrm>
            <a:off x="4398264" y="2633472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Retail checkout and inventory management reference.</a:t>
            </a:r>
          </a:p>
        </p:txBody>
      </p:sp>
      <p:sp>
        <p:nvSpPr>
          <p:cNvPr id="30" name="Card"/>
          <p:cNvSpPr/>
          <p:nvPr/>
        </p:nvSpPr>
        <p:spPr>
          <a:xfrm>
            <a:off x="612648" y="3483864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con circle"/>
          <p:cNvSpPr/>
          <p:nvPr/>
        </p:nvSpPr>
        <p:spPr>
          <a:xfrm>
            <a:off x="804672" y="3543300"/>
            <a:ext cx="612648" cy="612648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Icon" descr="CashRegister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834" y="3696462"/>
            <a:ext cx="306324" cy="306324"/>
          </a:xfrm>
          <a:prstGeom prst="rect">
            <a:avLst/>
          </a:prstGeom>
        </p:spPr>
      </p:pic>
      <p:sp>
        <p:nvSpPr>
          <p:cNvPr id="33" name="Row title"/>
          <p:cNvSpPr txBox="1"/>
          <p:nvPr/>
        </p:nvSpPr>
        <p:spPr>
          <a:xfrm>
            <a:off x="1719072" y="3483864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Clover Retail POS</a:t>
            </a:r>
          </a:p>
        </p:txBody>
      </p:sp>
      <p:sp>
        <p:nvSpPr>
          <p:cNvPr id="34" name="Row text"/>
          <p:cNvSpPr txBox="1"/>
          <p:nvPr/>
        </p:nvSpPr>
        <p:spPr>
          <a:xfrm>
            <a:off x="4398264" y="3483864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Store operations and payment workflow reference.</a:t>
            </a:r>
          </a:p>
        </p:txBody>
      </p:sp>
      <p:sp>
        <p:nvSpPr>
          <p:cNvPr id="35" name="Card"/>
          <p:cNvSpPr/>
          <p:nvPr/>
        </p:nvSpPr>
        <p:spPr>
          <a:xfrm>
            <a:off x="612648" y="4334256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Icon circle"/>
          <p:cNvSpPr/>
          <p:nvPr/>
        </p:nvSpPr>
        <p:spPr>
          <a:xfrm>
            <a:off x="804672" y="4393692"/>
            <a:ext cx="612648" cy="612648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Icon" descr="Receip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34" y="4546854"/>
            <a:ext cx="306324" cy="306324"/>
          </a:xfrm>
          <a:prstGeom prst="rect">
            <a:avLst/>
          </a:prstGeom>
        </p:spPr>
      </p:pic>
      <p:sp>
        <p:nvSpPr>
          <p:cNvPr id="38" name="Row title"/>
          <p:cNvSpPr txBox="1"/>
          <p:nvPr/>
        </p:nvSpPr>
        <p:spPr>
          <a:xfrm>
            <a:off x="1719072" y="4334256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Toast Retail POS</a:t>
            </a:r>
          </a:p>
        </p:txBody>
      </p:sp>
      <p:sp>
        <p:nvSpPr>
          <p:cNvPr id="39" name="Row text"/>
          <p:cNvSpPr txBox="1"/>
          <p:nvPr/>
        </p:nvSpPr>
        <p:spPr>
          <a:xfrm>
            <a:off x="4398264" y="4334256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Retail transaction and operational tooling reference.</a:t>
            </a:r>
          </a:p>
        </p:txBody>
      </p:sp>
      <p:sp>
        <p:nvSpPr>
          <p:cNvPr id="40" name="Card"/>
          <p:cNvSpPr/>
          <p:nvPr/>
        </p:nvSpPr>
        <p:spPr>
          <a:xfrm>
            <a:off x="612648" y="5184648"/>
            <a:ext cx="1097280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>
            <a:outerShdw blurRad="100330" dist="33020" dir="5400000" algn="bl" rotWithShape="0">
              <a:srgbClr val="000000">
                <a:alpha val="10000"/>
              </a:srgbClr>
            </a:outerShdw>
          </a:effectLst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con circle"/>
          <p:cNvSpPr/>
          <p:nvPr/>
        </p:nvSpPr>
        <p:spPr>
          <a:xfrm>
            <a:off x="804672" y="5244084"/>
            <a:ext cx="612648" cy="612648"/>
          </a:xfrm>
          <a:prstGeom prst="ellipse">
            <a:avLst/>
          </a:prstGeom>
          <a:solidFill>
            <a:srgbClr val="0EA5A4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Icon" descr="Tags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834" y="5397246"/>
            <a:ext cx="306324" cy="306324"/>
          </a:xfrm>
          <a:prstGeom prst="rect">
            <a:avLst/>
          </a:prstGeom>
        </p:spPr>
      </p:pic>
      <p:sp>
        <p:nvSpPr>
          <p:cNvPr id="43" name="Row title"/>
          <p:cNvSpPr txBox="1"/>
          <p:nvPr/>
        </p:nvSpPr>
        <p:spPr>
          <a:xfrm>
            <a:off x="1719072" y="5184648"/>
            <a:ext cx="267919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0B1F3A"/>
                </a:solidFill>
                <a:latin typeface="Carlito Bold"/>
                <a:ea typeface="Carlito Bold"/>
                <a:cs typeface="Carlito Bold"/>
              </a:rPr>
              <a:t>Loyverse POS</a:t>
            </a:r>
          </a:p>
        </p:txBody>
      </p:sp>
      <p:sp>
        <p:nvSpPr>
          <p:cNvPr id="44" name="Row text"/>
          <p:cNvSpPr txBox="1"/>
          <p:nvPr/>
        </p:nvSpPr>
        <p:spPr>
          <a:xfrm>
            <a:off x="4398264" y="5184648"/>
            <a:ext cx="6949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6B7280"/>
                </a:solidFill>
                <a:latin typeface="Carlito"/>
                <a:ea typeface="Carlito"/>
                <a:cs typeface="Carlito"/>
              </a:rPr>
              <a:t>Small-business POS, inventory, and reporting reference.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422" y="853380"/>
            <a:ext cx="1219170" cy="1219200"/>
          </a:xfrm>
          <a:prstGeom prst="ellipse">
            <a:avLst/>
          </a:prstGeom>
          <a:solidFill>
            <a:srgbClr val="0EA5A4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15" y="1158180"/>
            <a:ext cx="609585" cy="60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422" y="2316460"/>
            <a:ext cx="9753356" cy="9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400" b="1" kern="100" spc="70" dirty="0">
                <a:solidFill>
                  <a:srgbClr val="FFFFFF"/>
                </a:solidFill>
                <a:latin typeface="Caladea Bold" pitchFamily="34" charset="0"/>
                <a:ea typeface="Caladea Bold" pitchFamily="34" charset="-122"/>
                <a:cs typeface="Caladea Bold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731422" y="3413720"/>
            <a:ext cx="9753356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200" dirty="0">
                <a:solidFill>
                  <a:srgbClr val="7DD3D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31422" y="4253210"/>
            <a:ext cx="8534187" cy="778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50" dirty="0">
                <a:solidFill>
                  <a:srgbClr val="CBD5E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SmartStore — POS &amp; Inventory Management System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731422" y="5899150"/>
            <a:ext cx="10362941" cy="342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Carlito Bold" pitchFamily="34" charset="0"/>
                <a:ea typeface="Carlito Bold" pitchFamily="34" charset="-122"/>
                <a:cs typeface="Carlito Bold" pitchFamily="34" charset="-120"/>
              </a:rPr>
              <a:t>Presented by: Mukund Kumar, Ayan Shaikh, Aaron Famy</a:t>
            </a:r>
            <a:endParaRPr lang="en-US" sz="18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B3B92C-F7EF-C585-DE5B-CFF8A685235E}"/>
              </a:ext>
            </a:extLst>
          </p:cNvPr>
          <p:cNvSpPr/>
          <p:nvPr/>
        </p:nvSpPr>
        <p:spPr>
          <a:xfrm>
            <a:off x="10599576" y="6382139"/>
            <a:ext cx="1592424" cy="475861"/>
          </a:xfrm>
          <a:prstGeom prst="rect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755</Words>
  <Application>Microsoft Office PowerPoint</Application>
  <PresentationFormat>Widescreen</PresentationFormat>
  <Paragraphs>145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Carlito Bold</vt:lpstr>
      <vt:lpstr>Carlito</vt:lpstr>
      <vt:lpstr>Arial</vt:lpstr>
      <vt:lpstr>Caladea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AYAN SHAIKH</dc:creator>
  <cp:lastModifiedBy>Mukund Kumar</cp:lastModifiedBy>
  <cp:revision>3</cp:revision>
  <dcterms:created xsi:type="dcterms:W3CDTF">2026-10-06T11:12:52Z</dcterms:created>
  <dcterms:modified xsi:type="dcterms:W3CDTF">2026-10-16T05:27:44Z</dcterms:modified>
</cp:coreProperties>
</file>